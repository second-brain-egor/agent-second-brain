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Логотип РСХБ" descr="logo_blo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84048"/>
            <a:ext cx="2770672" cy="566928"/>
          </a:xfrm>
          <a:prstGeom prst="rect">
            <a:avLst/>
          </a:prstGeom>
        </p:spPr>
      </p:pic>
      <p:sp>
        <p:nvSpPr>
          <p:cNvPr id="3" name="Заголовок"/>
          <p:cNvSpPr txBox="1"/>
          <p:nvPr/>
        </p:nvSpPr>
        <p:spPr>
          <a:xfrm>
            <a:off x="3639352" y="256032"/>
            <a:ext cx="809514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2B6030"/>
                </a:solidFill>
                <a:latin typeface="Arial"/>
              </a:rPr>
              <a:t>Приводи своих друзей</a:t>
            </a:r>
          </a:p>
        </p:txBody>
      </p:sp>
      <p:sp>
        <p:nvSpPr>
          <p:cNvPr id="4" name="Подзаголовок"/>
          <p:cNvSpPr txBox="1"/>
          <p:nvPr/>
        </p:nvSpPr>
        <p:spPr>
          <a:xfrm>
            <a:off x="3639352" y="786384"/>
            <a:ext cx="809514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>
                <a:solidFill>
                  <a:srgbClr val="263228"/>
                </a:solidFill>
                <a:latin typeface="Arial"/>
              </a:rPr>
              <a:t>Друг получает зарплату на новую карту — </a:t>
            </a:r>
            <a:r>
              <a:rPr sz="1700" b="1">
                <a:solidFill>
                  <a:srgbClr val="238441"/>
                </a:solidFill>
                <a:latin typeface="Arial"/>
              </a:rPr>
              <a:t>вы получаете бонусные баллы</a:t>
            </a:r>
          </a:p>
        </p:txBody>
      </p:sp>
      <p:sp>
        <p:nvSpPr>
          <p:cNvPr id="5" name="Шаг 1: карточка"/>
          <p:cNvSpPr/>
          <p:nvPr/>
        </p:nvSpPr>
        <p:spPr>
          <a:xfrm>
            <a:off x="457200" y="1417320"/>
            <a:ext cx="2572435" cy="3364992"/>
          </a:xfrm>
          <a:prstGeom prst="roundRect">
            <a:avLst>
              <a:gd name="adj" fmla="val 7000"/>
            </a:avLst>
          </a:prstGeom>
          <a:solidFill>
            <a:srgbClr val="EEF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6" name="Шаг 1: иллюстрация" descr="step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2753" y="1600200"/>
            <a:ext cx="1481328" cy="1481328"/>
          </a:xfrm>
          <a:prstGeom prst="rect">
            <a:avLst/>
          </a:prstGeom>
        </p:spPr>
      </p:pic>
      <p:sp>
        <p:nvSpPr>
          <p:cNvPr id="7" name="Шаг 1: номер"/>
          <p:cNvSpPr/>
          <p:nvPr/>
        </p:nvSpPr>
        <p:spPr>
          <a:xfrm>
            <a:off x="621792" y="1581912"/>
            <a:ext cx="384048" cy="384048"/>
          </a:xfrm>
          <a:prstGeom prst="ellipse">
            <a:avLst/>
          </a:prstGeom>
          <a:solidFill>
            <a:srgbClr val="2B6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8" name="Шаг 1: заголовок"/>
          <p:cNvSpPr txBox="1"/>
          <p:nvPr/>
        </p:nvSpPr>
        <p:spPr>
          <a:xfrm>
            <a:off x="658368" y="3209544"/>
            <a:ext cx="217009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2B6030"/>
                </a:solidFill>
                <a:latin typeface="Arial"/>
              </a:rPr>
              <a:t>QR-код другу</a:t>
            </a:r>
          </a:p>
        </p:txBody>
      </p:sp>
      <p:sp>
        <p:nvSpPr>
          <p:cNvPr id="9" name="Шаг 1: текст"/>
          <p:cNvSpPr txBox="1"/>
          <p:nvPr/>
        </p:nvSpPr>
        <p:spPr>
          <a:xfrm>
            <a:off x="658368" y="3630168"/>
            <a:ext cx="2170099" cy="10424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263228"/>
                </a:solidFill>
                <a:latin typeface="Arial"/>
              </a:rPr>
              <a:t>Создайте в «Мобильном банке» ссылку или QR-код и отправьте другу</a:t>
            </a:r>
          </a:p>
        </p:txBody>
      </p:sp>
      <p:sp>
        <p:nvSpPr>
          <p:cNvPr id="10" name="Стрелка 1"/>
          <p:cNvSpPr/>
          <p:nvPr/>
        </p:nvSpPr>
        <p:spPr>
          <a:xfrm>
            <a:off x="2929051" y="2075688"/>
            <a:ext cx="530352" cy="530352"/>
          </a:xfrm>
          <a:prstGeom prst="ellipse">
            <a:avLst/>
          </a:prstGeom>
          <a:solidFill>
            <a:srgbClr val="FFCB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Стрелка 1: знак"/>
          <p:cNvSpPr/>
          <p:nvPr/>
        </p:nvSpPr>
        <p:spPr>
          <a:xfrm>
            <a:off x="3111931" y="2212848"/>
            <a:ext cx="182880" cy="256032"/>
          </a:xfrm>
          <a:prstGeom prst="chevron">
            <a:avLst/>
          </a:prstGeom>
          <a:solidFill>
            <a:srgbClr val="2B6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Шаг 2: карточка"/>
          <p:cNvSpPr/>
          <p:nvPr/>
        </p:nvSpPr>
        <p:spPr>
          <a:xfrm>
            <a:off x="3358819" y="1417320"/>
            <a:ext cx="2572435" cy="3364992"/>
          </a:xfrm>
          <a:prstGeom prst="roundRect">
            <a:avLst>
              <a:gd name="adj" fmla="val 7000"/>
            </a:avLst>
          </a:prstGeom>
          <a:solidFill>
            <a:srgbClr val="EEF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3" name="Шаг 2: иллюстрация" descr="step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04373" y="1600200"/>
            <a:ext cx="1481328" cy="1481328"/>
          </a:xfrm>
          <a:prstGeom prst="rect">
            <a:avLst/>
          </a:prstGeom>
        </p:spPr>
      </p:pic>
      <p:sp>
        <p:nvSpPr>
          <p:cNvPr id="14" name="Шаг 2: номер"/>
          <p:cNvSpPr/>
          <p:nvPr/>
        </p:nvSpPr>
        <p:spPr>
          <a:xfrm>
            <a:off x="3523411" y="1581912"/>
            <a:ext cx="384048" cy="384048"/>
          </a:xfrm>
          <a:prstGeom prst="ellipse">
            <a:avLst/>
          </a:prstGeom>
          <a:solidFill>
            <a:srgbClr val="2B6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Шаг 2: заголовок"/>
          <p:cNvSpPr txBox="1"/>
          <p:nvPr/>
        </p:nvSpPr>
        <p:spPr>
          <a:xfrm>
            <a:off x="3559987" y="3209544"/>
            <a:ext cx="217009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2B6030"/>
                </a:solidFill>
                <a:latin typeface="Arial"/>
              </a:rPr>
              <a:t>Друг берёт карту</a:t>
            </a:r>
          </a:p>
        </p:txBody>
      </p:sp>
      <p:sp>
        <p:nvSpPr>
          <p:cNvPr id="16" name="Шаг 2: текст"/>
          <p:cNvSpPr txBox="1"/>
          <p:nvPr/>
        </p:nvSpPr>
        <p:spPr>
          <a:xfrm>
            <a:off x="3559987" y="3630168"/>
            <a:ext cx="2170099" cy="10424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263228"/>
                </a:solidFill>
                <a:latin typeface="Arial"/>
              </a:rPr>
              <a:t>Подаёт заявку на retail.rshb.ru, в течение 90 дней получает карту «СВОЯ карта Плюс» в отделении и подключает «Мобильный банк»</a:t>
            </a:r>
          </a:p>
        </p:txBody>
      </p:sp>
      <p:sp>
        <p:nvSpPr>
          <p:cNvPr id="17" name="Стрелка 2"/>
          <p:cNvSpPr/>
          <p:nvPr/>
        </p:nvSpPr>
        <p:spPr>
          <a:xfrm>
            <a:off x="5830671" y="2075688"/>
            <a:ext cx="530352" cy="530352"/>
          </a:xfrm>
          <a:prstGeom prst="ellipse">
            <a:avLst/>
          </a:prstGeom>
          <a:solidFill>
            <a:srgbClr val="FFCB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Стрелка 2: знак"/>
          <p:cNvSpPr/>
          <p:nvPr/>
        </p:nvSpPr>
        <p:spPr>
          <a:xfrm>
            <a:off x="6013551" y="2212848"/>
            <a:ext cx="182880" cy="256032"/>
          </a:xfrm>
          <a:prstGeom prst="chevron">
            <a:avLst/>
          </a:prstGeom>
          <a:solidFill>
            <a:srgbClr val="2B6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Шаг 3: карточка"/>
          <p:cNvSpPr/>
          <p:nvPr/>
        </p:nvSpPr>
        <p:spPr>
          <a:xfrm>
            <a:off x="6260439" y="1417320"/>
            <a:ext cx="2572435" cy="3364992"/>
          </a:xfrm>
          <a:prstGeom prst="roundRect">
            <a:avLst>
              <a:gd name="adj" fmla="val 7000"/>
            </a:avLst>
          </a:prstGeom>
          <a:solidFill>
            <a:srgbClr val="EEF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0" name="Шаг 3: иллюстрация" descr="step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05993" y="1600200"/>
            <a:ext cx="1481328" cy="1481328"/>
          </a:xfrm>
          <a:prstGeom prst="rect">
            <a:avLst/>
          </a:prstGeom>
        </p:spPr>
      </p:pic>
      <p:sp>
        <p:nvSpPr>
          <p:cNvPr id="21" name="Шаг 3: номер"/>
          <p:cNvSpPr/>
          <p:nvPr/>
        </p:nvSpPr>
        <p:spPr>
          <a:xfrm>
            <a:off x="6425031" y="1581912"/>
            <a:ext cx="384048" cy="384048"/>
          </a:xfrm>
          <a:prstGeom prst="ellipse">
            <a:avLst/>
          </a:prstGeom>
          <a:solidFill>
            <a:srgbClr val="2B6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Шаг 3: заголовок"/>
          <p:cNvSpPr txBox="1"/>
          <p:nvPr/>
        </p:nvSpPr>
        <p:spPr>
          <a:xfrm>
            <a:off x="6461607" y="3209544"/>
            <a:ext cx="217009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2B6030"/>
                </a:solidFill>
                <a:latin typeface="Arial"/>
              </a:rPr>
              <a:t>Зарплата на карту</a:t>
            </a:r>
          </a:p>
        </p:txBody>
      </p:sp>
      <p:sp>
        <p:nvSpPr>
          <p:cNvPr id="23" name="Шаг 3: текст"/>
          <p:cNvSpPr txBox="1"/>
          <p:nvPr/>
        </p:nvSpPr>
        <p:spPr>
          <a:xfrm>
            <a:off x="6461607" y="3630168"/>
            <a:ext cx="2170099" cy="10424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263228"/>
                </a:solidFill>
                <a:latin typeface="Arial"/>
              </a:rPr>
              <a:t>Друг получает на новую карту зарплату от 15 000 ₽</a:t>
            </a:r>
          </a:p>
        </p:txBody>
      </p:sp>
      <p:sp>
        <p:nvSpPr>
          <p:cNvPr id="24" name="Стрелка 3"/>
          <p:cNvSpPr/>
          <p:nvPr/>
        </p:nvSpPr>
        <p:spPr>
          <a:xfrm>
            <a:off x="8732291" y="2075688"/>
            <a:ext cx="530352" cy="530352"/>
          </a:xfrm>
          <a:prstGeom prst="ellipse">
            <a:avLst/>
          </a:prstGeom>
          <a:solidFill>
            <a:srgbClr val="FFCB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Стрелка 3: знак"/>
          <p:cNvSpPr/>
          <p:nvPr/>
        </p:nvSpPr>
        <p:spPr>
          <a:xfrm>
            <a:off x="8915171" y="2212848"/>
            <a:ext cx="182880" cy="256032"/>
          </a:xfrm>
          <a:prstGeom prst="chevron">
            <a:avLst/>
          </a:prstGeom>
          <a:solidFill>
            <a:srgbClr val="2B6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Шаг 4: карточка"/>
          <p:cNvSpPr/>
          <p:nvPr/>
        </p:nvSpPr>
        <p:spPr>
          <a:xfrm>
            <a:off x="9162059" y="1417320"/>
            <a:ext cx="2572435" cy="3364992"/>
          </a:xfrm>
          <a:prstGeom prst="roundRect">
            <a:avLst>
              <a:gd name="adj" fmla="val 7000"/>
            </a:avLst>
          </a:prstGeom>
          <a:solidFill>
            <a:srgbClr val="EEF5EA"/>
          </a:solidFill>
          <a:ln w="31750">
            <a:solidFill>
              <a:srgbClr val="FFCB0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7" name="Шаг 4: иллюстрация" descr="step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07613" y="1600200"/>
            <a:ext cx="1481328" cy="1481328"/>
          </a:xfrm>
          <a:prstGeom prst="rect">
            <a:avLst/>
          </a:prstGeom>
        </p:spPr>
      </p:pic>
      <p:sp>
        <p:nvSpPr>
          <p:cNvPr id="28" name="Шаг 4: номер"/>
          <p:cNvSpPr/>
          <p:nvPr/>
        </p:nvSpPr>
        <p:spPr>
          <a:xfrm>
            <a:off x="9326651" y="1581912"/>
            <a:ext cx="384048" cy="384048"/>
          </a:xfrm>
          <a:prstGeom prst="ellipse">
            <a:avLst/>
          </a:prstGeom>
          <a:solidFill>
            <a:srgbClr val="2B6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Шаг 4: заголовок"/>
          <p:cNvSpPr txBox="1"/>
          <p:nvPr/>
        </p:nvSpPr>
        <p:spPr>
          <a:xfrm>
            <a:off x="9363227" y="3209544"/>
            <a:ext cx="217009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2B6030"/>
                </a:solidFill>
                <a:latin typeface="Arial"/>
              </a:rPr>
              <a:t>Баллы — вам</a:t>
            </a:r>
          </a:p>
        </p:txBody>
      </p:sp>
      <p:sp>
        <p:nvSpPr>
          <p:cNvPr id="30" name="Баллы: за друга"/>
          <p:cNvSpPr txBox="1"/>
          <p:nvPr/>
        </p:nvSpPr>
        <p:spPr>
          <a:xfrm>
            <a:off x="9363227" y="3520440"/>
            <a:ext cx="2170099" cy="475488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3000" b="1">
                <a:solidFill>
                  <a:srgbClr val="2B6030"/>
                </a:solidFill>
                <a:latin typeface="Arial"/>
              </a:rPr>
              <a:t>2 000</a:t>
            </a:r>
            <a:r>
              <a:rPr sz="1500" b="1">
                <a:solidFill>
                  <a:srgbClr val="2B6030"/>
                </a:solidFill>
                <a:latin typeface="Arial"/>
              </a:rPr>
              <a:t> баллов</a:t>
            </a:r>
          </a:p>
        </p:txBody>
      </p:sp>
      <p:sp>
        <p:nvSpPr>
          <p:cNvPr id="31" name="Баллы: пояснение"/>
          <p:cNvSpPr txBox="1"/>
          <p:nvPr/>
        </p:nvSpPr>
        <p:spPr>
          <a:xfrm>
            <a:off x="9363227" y="4014216"/>
            <a:ext cx="217009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263228"/>
                </a:solidFill>
                <a:latin typeface="Arial"/>
              </a:rPr>
              <a:t>за каждого друга</a:t>
            </a:r>
          </a:p>
        </p:txBody>
      </p:sp>
      <p:sp>
        <p:nvSpPr>
          <p:cNvPr id="32" name="Баллы: плашка"/>
          <p:cNvSpPr/>
          <p:nvPr/>
        </p:nvSpPr>
        <p:spPr>
          <a:xfrm>
            <a:off x="9308363" y="4306824"/>
            <a:ext cx="2279827" cy="365760"/>
          </a:xfrm>
          <a:prstGeom prst="roundRect">
            <a:avLst>
              <a:gd name="adj" fmla="val 50000"/>
            </a:avLst>
          </a:prstGeom>
          <a:solidFill>
            <a:srgbClr val="FFCB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500" b="1">
                <a:solidFill>
                  <a:srgbClr val="2B6030"/>
                </a:solidFill>
                <a:latin typeface="Arial"/>
              </a:rPr>
              <a:t>4 000</a:t>
            </a:r>
            <a:r>
              <a:rPr sz="1200" b="0">
                <a:solidFill>
                  <a:srgbClr val="2B6030"/>
                </a:solidFill>
                <a:latin typeface="Arial"/>
              </a:rPr>
              <a:t> за каждого 3-го друга</a:t>
            </a:r>
          </a:p>
        </p:txBody>
      </p:sp>
      <p:sp>
        <p:nvSpPr>
          <p:cNvPr id="33" name="Кто может стать другом: маркер"/>
          <p:cNvSpPr/>
          <p:nvPr/>
        </p:nvSpPr>
        <p:spPr>
          <a:xfrm>
            <a:off x="457200" y="5047488"/>
            <a:ext cx="146304" cy="146304"/>
          </a:xfrm>
          <a:prstGeom prst="ellipse">
            <a:avLst/>
          </a:prstGeom>
          <a:solidFill>
            <a:srgbClr val="238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Кто может стать другом: заголовок"/>
          <p:cNvSpPr txBox="1"/>
          <p:nvPr/>
        </p:nvSpPr>
        <p:spPr>
          <a:xfrm>
            <a:off x="694944" y="4992624"/>
            <a:ext cx="277977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2B6030"/>
                </a:solidFill>
                <a:latin typeface="Arial"/>
              </a:rPr>
              <a:t>Кто может стать другом</a:t>
            </a:r>
          </a:p>
        </p:txBody>
      </p:sp>
      <p:sp>
        <p:nvSpPr>
          <p:cNvPr id="35" name="Кто может стать другом: текст"/>
          <p:cNvSpPr txBox="1"/>
          <p:nvPr/>
        </p:nvSpPr>
        <p:spPr>
          <a:xfrm>
            <a:off x="694944" y="5303520"/>
            <a:ext cx="2779776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263228"/>
                </a:solidFill>
                <a:latin typeface="Arial"/>
              </a:rPr>
              <a:t>— 18 лет и старше</a:t>
            </a: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263228"/>
                </a:solidFill>
                <a:latin typeface="Arial"/>
              </a:rPr>
              <a:t>— На момент заявки нет действующих продуктов в Россельхозбанке</a:t>
            </a:r>
          </a:p>
        </p:txBody>
      </p:sp>
      <p:sp>
        <p:nvSpPr>
          <p:cNvPr id="36" name="Что нужно вам: маркер"/>
          <p:cNvSpPr/>
          <p:nvPr/>
        </p:nvSpPr>
        <p:spPr>
          <a:xfrm>
            <a:off x="3649827" y="5047488"/>
            <a:ext cx="146304" cy="146304"/>
          </a:xfrm>
          <a:prstGeom prst="ellipse">
            <a:avLst/>
          </a:prstGeom>
          <a:solidFill>
            <a:srgbClr val="238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Что нужно вам: заголовок"/>
          <p:cNvSpPr txBox="1"/>
          <p:nvPr/>
        </p:nvSpPr>
        <p:spPr>
          <a:xfrm>
            <a:off x="3887571" y="4992624"/>
            <a:ext cx="419709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2B6030"/>
                </a:solidFill>
                <a:latin typeface="Arial"/>
              </a:rPr>
              <a:t>Что нужно вам</a:t>
            </a:r>
          </a:p>
        </p:txBody>
      </p:sp>
      <p:sp>
        <p:nvSpPr>
          <p:cNvPr id="38" name="Что нужно вам: текст"/>
          <p:cNvSpPr txBox="1"/>
          <p:nvPr/>
        </p:nvSpPr>
        <p:spPr>
          <a:xfrm>
            <a:off x="3887571" y="5303520"/>
            <a:ext cx="4197096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263228"/>
                </a:solidFill>
                <a:latin typeface="Arial"/>
              </a:rPr>
              <a:t>— Участвовать в Программе лояльности и иметь действующий договор с Банком</a:t>
            </a: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263228"/>
                </a:solidFill>
                <a:latin typeface="Arial"/>
              </a:rPr>
              <a:t>— Оплатить картой хотя бы одну покупку за 90 дней до зарплаты друга</a:t>
            </a:r>
          </a:p>
        </p:txBody>
      </p:sp>
      <p:sp>
        <p:nvSpPr>
          <p:cNvPr id="39" name="Сроки: маркер"/>
          <p:cNvSpPr/>
          <p:nvPr/>
        </p:nvSpPr>
        <p:spPr>
          <a:xfrm>
            <a:off x="8259775" y="5047488"/>
            <a:ext cx="146304" cy="146304"/>
          </a:xfrm>
          <a:prstGeom prst="ellipse">
            <a:avLst/>
          </a:prstGeom>
          <a:solidFill>
            <a:srgbClr val="238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Сроки: заголовок"/>
          <p:cNvSpPr txBox="1"/>
          <p:nvPr/>
        </p:nvSpPr>
        <p:spPr>
          <a:xfrm>
            <a:off x="8497519" y="4992624"/>
            <a:ext cx="323697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2B6030"/>
                </a:solidFill>
                <a:latin typeface="Arial"/>
              </a:rPr>
              <a:t>Сроки</a:t>
            </a:r>
          </a:p>
        </p:txBody>
      </p:sp>
      <p:sp>
        <p:nvSpPr>
          <p:cNvPr id="41" name="Сроки: текст"/>
          <p:cNvSpPr txBox="1"/>
          <p:nvPr/>
        </p:nvSpPr>
        <p:spPr>
          <a:xfrm>
            <a:off x="8497519" y="5303520"/>
            <a:ext cx="3236976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263228"/>
                </a:solidFill>
                <a:latin typeface="Arial"/>
              </a:rPr>
              <a:t>— Отправить ссылку — до 01.11.2026</a:t>
            </a: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263228"/>
                </a:solidFill>
                <a:latin typeface="Arial"/>
              </a:rPr>
              <a:t>— Зарплата другу — до 01.01.2027</a:t>
            </a: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263228"/>
                </a:solidFill>
                <a:latin typeface="Arial"/>
              </a:rPr>
              <a:t>— Баллы — в течение 30 дней после зарплаты</a:t>
            </a:r>
          </a:p>
        </p:txBody>
      </p:sp>
      <p:sp>
        <p:nvSpPr>
          <p:cNvPr id="42" name="Сноска"/>
          <p:cNvSpPr txBox="1"/>
          <p:nvPr/>
        </p:nvSpPr>
        <p:spPr>
          <a:xfrm>
            <a:off x="457200" y="6199632"/>
            <a:ext cx="11277295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5E6B60"/>
                </a:solidFill>
                <a:latin typeface="Arial"/>
              </a:rPr>
              <a:t>Условия для ссылок, отправленных с 02.06.2026 по 01.11.2026. Баллы начисляются за одно условие — то, которое друг выполнил первым. Номер друга считается по дню выполнения условия, после 3-го — заново. Ссылок и QR-кодов можно создать сколько угодно. Правила акции «Приводи своих друзей» в редакции с 02.10.2026.</a:t>
            </a:r>
          </a:p>
        </p:txBody>
      </p:sp>
      <p:sp>
        <p:nvSpPr>
          <p:cNvPr id="43" name="Фирменный паттерн"/>
          <p:cNvSpPr/>
          <p:nvPr/>
        </p:nvSpPr>
        <p:spPr>
          <a:xfrm>
            <a:off x="0" y="6729984"/>
            <a:ext cx="2193408" cy="128016"/>
          </a:xfrm>
          <a:prstGeom prst="rect">
            <a:avLst/>
          </a:prstGeom>
          <a:solidFill>
            <a:srgbClr val="2B6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Фирменный паттерн"/>
          <p:cNvSpPr/>
          <p:nvPr/>
        </p:nvSpPr>
        <p:spPr>
          <a:xfrm>
            <a:off x="2303078" y="6729984"/>
            <a:ext cx="1370880" cy="128016"/>
          </a:xfrm>
          <a:prstGeom prst="rect">
            <a:avLst/>
          </a:prstGeom>
          <a:solidFill>
            <a:srgbClr val="238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Фирменный паттерн"/>
          <p:cNvSpPr/>
          <p:nvPr/>
        </p:nvSpPr>
        <p:spPr>
          <a:xfrm>
            <a:off x="4130919" y="6729984"/>
            <a:ext cx="822528" cy="128016"/>
          </a:xfrm>
          <a:prstGeom prst="rect">
            <a:avLst/>
          </a:prstGeom>
          <a:solidFill>
            <a:srgbClr val="6AA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Фирменный паттерн"/>
          <p:cNvSpPr/>
          <p:nvPr/>
        </p:nvSpPr>
        <p:spPr>
          <a:xfrm>
            <a:off x="5456103" y="6729984"/>
            <a:ext cx="1462272" cy="128016"/>
          </a:xfrm>
          <a:prstGeom prst="rect">
            <a:avLst/>
          </a:prstGeom>
          <a:solidFill>
            <a:srgbClr val="A6CE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Фирменный паттерн"/>
          <p:cNvSpPr/>
          <p:nvPr/>
        </p:nvSpPr>
        <p:spPr>
          <a:xfrm>
            <a:off x="6918375" y="6729984"/>
            <a:ext cx="365568" cy="128016"/>
          </a:xfrm>
          <a:prstGeom prst="rect">
            <a:avLst/>
          </a:prstGeom>
          <a:solidFill>
            <a:srgbClr val="FFCB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Фирменный паттерн"/>
          <p:cNvSpPr/>
          <p:nvPr/>
        </p:nvSpPr>
        <p:spPr>
          <a:xfrm>
            <a:off x="7695207" y="6729984"/>
            <a:ext cx="1005312" cy="128016"/>
          </a:xfrm>
          <a:prstGeom prst="rect">
            <a:avLst/>
          </a:prstGeom>
          <a:solidFill>
            <a:srgbClr val="6AA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Фирменный паттерн"/>
          <p:cNvSpPr/>
          <p:nvPr/>
        </p:nvSpPr>
        <p:spPr>
          <a:xfrm>
            <a:off x="9248872" y="6729984"/>
            <a:ext cx="319872" cy="128016"/>
          </a:xfrm>
          <a:prstGeom prst="rect">
            <a:avLst/>
          </a:prstGeom>
          <a:solidFill>
            <a:srgbClr val="A6CE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Фирменный паттерн"/>
          <p:cNvSpPr/>
          <p:nvPr/>
        </p:nvSpPr>
        <p:spPr>
          <a:xfrm>
            <a:off x="9678414" y="6729984"/>
            <a:ext cx="822528" cy="128016"/>
          </a:xfrm>
          <a:prstGeom prst="rect">
            <a:avLst/>
          </a:prstGeom>
          <a:solidFill>
            <a:srgbClr val="238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1" name="Фирменный паттерн"/>
          <p:cNvSpPr/>
          <p:nvPr/>
        </p:nvSpPr>
        <p:spPr>
          <a:xfrm>
            <a:off x="10500942" y="6729984"/>
            <a:ext cx="1690752" cy="128016"/>
          </a:xfrm>
          <a:prstGeom prst="rect">
            <a:avLst/>
          </a:prstGeom>
          <a:solidFill>
            <a:srgbClr val="2B6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Приводи своих друзей — карта и зарплата</dc:title>
  <dc:subject/>
  <dc:creator>Россельхозбанк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